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470D-7C76-20ED-1E2E-5C8B1EC3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132F7-8197-DDA7-A4E2-41ADC2E51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D15B6-01CB-4760-47EC-0348769C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3EAB9-7050-0E33-A457-C82AB899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7B12E-7A5E-DF39-03E6-BE26F154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4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A2F4-EEB1-D7B7-59C6-75FB320C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874E-0AC9-480F-8062-0D0D3FA6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D7098-A9E0-A370-12D6-F49998FD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09C6-4742-5CCD-C68D-7687A51C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29B7B-6D45-0918-2519-7380D175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30C7-C7BF-E829-04D3-2FB82A94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B8883-4F56-DA21-FED9-EA7AA47A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C636-3FD3-CDEB-E827-6F93FE88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D552E-8FE9-CC4F-A757-79226126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1B9CF-8690-02D8-10F6-0193A7C34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1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411C-3D9F-F6B6-C0FA-83956BB7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DBE27-F70C-46D3-5BA0-D5B46CB76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69B3B-A68A-50D6-53F2-20E284E5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E53F1-9869-D800-C98A-D4D985AA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FADF6-AF0F-ED34-9C67-4A5CB74C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9DC39-A479-B706-7526-0517BF90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8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5963-8053-8FA2-EAEF-BC02B458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C70AE-83EA-8B3E-7A6E-9B9CD5A1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8C741-3005-BBFE-B989-A701F6B29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F3E00-9F01-80FD-4B77-49C85B088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9B7BFA-117B-3C1D-86A7-9382CE753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7A347-A121-17F0-8EAA-F7CF8EA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6AB7C-736C-100E-DB78-2D1A87A65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CF178-584C-F20B-3D26-87F990C6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9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0E0E-C13B-C6C2-DD22-F58CF950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1ED56-1073-9888-10D8-EFAFA8A70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C40D7-FD02-AAB7-7BC9-DE4383D1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CA6B0-C449-B44A-897B-FCF7011C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2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B6A7E-A882-EDC8-B19F-8144673D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DE3E5-5AD6-AB9C-9BF7-CF42C5774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D243F-2F0D-58C9-4C92-A83A99B3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6C08-0E77-2766-6B49-DA5BBA58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4E664-0AFE-3BE7-14FE-E28D175B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BE2AC-C052-D318-F03D-EB533DFBB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8E97B-CC42-537F-B711-F8ED13B4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74EEA-D771-586E-90AE-D3EF7464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DF874-6B92-D459-96CD-EE923732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8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1E70-5084-6DDA-EFE9-4F6DA8BF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074B6-2B5C-1D5D-9851-9C03BBE36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10EB2-CB22-4B34-48E1-C1E7A898F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1C60F-0F2A-609D-364D-F50A6533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C8425-A87F-CC70-3C4D-CC9A6760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35AD0-5CDF-D66F-6883-264326D2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F1B4-AA13-C511-D603-ECC2FB2A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1468B-50F5-7225-43CC-03D96050A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17D24-ABD5-7956-78B3-B80328BDC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DB4F-CE94-03CD-74D8-D3698F0D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9F2F9-5E7B-C112-5A9B-5F9D851B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35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501E7-1BB4-C632-1902-45D7E83BC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11721-746A-9B20-B87E-D8046AB0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98264-DE48-D670-CFB3-C3F526E8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16054-09A6-C5B5-3728-B438BB06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9DF3-F74C-458B-EC97-DB60935A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0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F163F-DB46-772A-A66A-55A23150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EA06D-3331-D098-ABED-F2E43A7D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0EB1-1B43-8FD0-0A5D-9B2D52BA5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C8DF5-F27D-4520-B21C-3AB46C3468BF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9D73-5BF4-1E10-3D4A-7A816468D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63D90-9B16-FFCA-C353-718DA3A1A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6E402-E289-4971-BAA9-BE00280FF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5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BDE6-FA52-E848-5D94-F66651431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eXtreme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8CAFD-1ADF-327E-1127-1468D6343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          By sharan</a:t>
            </a:r>
          </a:p>
        </p:txBody>
      </p:sp>
    </p:spTree>
    <p:extLst>
      <p:ext uri="{BB962C8B-B14F-4D97-AF65-F5344CB8AC3E}">
        <p14:creationId xmlns:p14="http://schemas.microsoft.com/office/powerpoint/2010/main" val="268473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7B588-F0DC-C151-A1CD-D9A7C1DADC48}"/>
              </a:ext>
            </a:extLst>
          </p:cNvPr>
          <p:cNvSpPr txBox="1"/>
          <p:nvPr/>
        </p:nvSpPr>
        <p:spPr>
          <a:xfrm>
            <a:off x="520505" y="773723"/>
            <a:ext cx="103116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Optimized Gradient Boosting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eXtreme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Boosting) is a highly optimized, scalable, and efficient implementation of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Decision Tree (GBDT)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 Review: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models are trained to predict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(errors) of the previous model, gradually correcting the overall prediction. This is equivalent to performing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function space.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"Extreme" Edge: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goes beyond traditional GBDT by introducing powerful innovations for performance and control.</a:t>
            </a:r>
          </a:p>
        </p:txBody>
      </p:sp>
    </p:spTree>
    <p:extLst>
      <p:ext uri="{BB962C8B-B14F-4D97-AF65-F5344CB8AC3E}">
        <p14:creationId xmlns:p14="http://schemas.microsoft.com/office/powerpoint/2010/main" val="414419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treme Gradient Boosting Machine (XGBoost) regression | Download  Scientific Diagram">
            <a:extLst>
              <a:ext uri="{FF2B5EF4-FFF2-40B4-BE49-F238E27FC236}">
                <a16:creationId xmlns:a16="http://schemas.microsoft.com/office/drawing/2014/main" id="{849F80E5-A575-A1CE-1DD6-E295B8444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34" y="464234"/>
            <a:ext cx="10297552" cy="571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06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diagram illustrating gradient tree boosting.">
            <a:extLst>
              <a:ext uri="{FF2B5EF4-FFF2-40B4-BE49-F238E27FC236}">
                <a16:creationId xmlns:a16="http://schemas.microsoft.com/office/drawing/2014/main" id="{6E213B14-1642-0BE7-8386-A07A1299C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25083"/>
            <a:ext cx="9153525" cy="630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11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76C12D-4737-7E87-1645-1432C1A1EEC7}"/>
              </a:ext>
            </a:extLst>
          </p:cNvPr>
          <p:cNvSpPr txBox="1"/>
          <p:nvPr/>
        </p:nvSpPr>
        <p:spPr>
          <a:xfrm>
            <a:off x="703385" y="379828"/>
            <a:ext cx="1067737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 err="1"/>
              <a:t>XGBoost</a:t>
            </a:r>
            <a:r>
              <a:rPr lang="en-US" sz="2400" b="1" dirty="0"/>
              <a:t> Tree Construction and Features</a:t>
            </a:r>
          </a:p>
          <a:p>
            <a:pPr algn="ctr">
              <a:buNone/>
            </a:pPr>
            <a:endParaRPr lang="en-US" sz="2400" b="1" dirty="0"/>
          </a:p>
          <a:p>
            <a:r>
              <a:rPr lang="en-US" sz="2400" b="1" dirty="0"/>
              <a:t>Level-wise (Breadth-First) Tree Growth:</a:t>
            </a:r>
            <a:r>
              <a:rPr lang="en-US" sz="2400" dirty="0"/>
              <a:t> </a:t>
            </a:r>
            <a:r>
              <a:rPr lang="en-US" sz="2400" dirty="0" err="1"/>
              <a:t>XGBoost</a:t>
            </a:r>
            <a:r>
              <a:rPr lang="en-US" sz="2400" dirty="0"/>
              <a:t> builds trees </a:t>
            </a:r>
            <a:r>
              <a:rPr lang="en-US" sz="2400" b="1" dirty="0"/>
              <a:t>level-by-level</a:t>
            </a:r>
            <a:r>
              <a:rPr lang="en-US" sz="2400" dirty="0"/>
              <a:t>.</a:t>
            </a:r>
          </a:p>
          <a:p>
            <a:r>
              <a:rPr lang="en-US" sz="2400" dirty="0"/>
              <a:t>It evaluates all potential splits at a given depth before moving to the next level.</a:t>
            </a:r>
          </a:p>
          <a:p>
            <a:endParaRPr lang="en-US" sz="2400" dirty="0"/>
          </a:p>
          <a:p>
            <a:r>
              <a:rPr lang="en-US" sz="2400" b="1" dirty="0"/>
              <a:t>Advantage:</a:t>
            </a:r>
            <a:r>
              <a:rPr lang="en-US" sz="2400" dirty="0"/>
              <a:t> This supports </a:t>
            </a:r>
            <a:r>
              <a:rPr lang="en-US" sz="2400" b="1" dirty="0"/>
              <a:t>parallel computation</a:t>
            </a:r>
            <a:r>
              <a:rPr lang="en-US" sz="2400" dirty="0"/>
              <a:t> of splits within a level, significantly speeding up the training process. </a:t>
            </a:r>
          </a:p>
          <a:p>
            <a:endParaRPr lang="en-US" sz="2400" dirty="0"/>
          </a:p>
          <a:p>
            <a:r>
              <a:rPr lang="en-US" sz="2400" b="1" dirty="0"/>
              <a:t>Handling Missing Values:</a:t>
            </a:r>
            <a:r>
              <a:rPr lang="en-US" sz="2400" dirty="0"/>
              <a:t> </a:t>
            </a:r>
            <a:r>
              <a:rPr lang="en-US" sz="2400" dirty="0" err="1"/>
              <a:t>XGBoost</a:t>
            </a:r>
            <a:r>
              <a:rPr lang="en-US" sz="2400" dirty="0"/>
              <a:t> has a built-in strategy:</a:t>
            </a:r>
          </a:p>
          <a:p>
            <a:r>
              <a:rPr lang="en-US" sz="2400" dirty="0"/>
              <a:t>At a node, it learns the </a:t>
            </a:r>
            <a:r>
              <a:rPr lang="en-US" sz="2400" b="1" dirty="0"/>
              <a:t>best default direction</a:t>
            </a:r>
            <a:r>
              <a:rPr lang="en-US" sz="2400" dirty="0"/>
              <a:t> (left or right) for samples with missing feature values.</a:t>
            </a:r>
          </a:p>
          <a:p>
            <a:endParaRPr lang="en-US" sz="2400" dirty="0"/>
          </a:p>
          <a:p>
            <a:r>
              <a:rPr lang="en-US" sz="2400" b="1" dirty="0"/>
              <a:t>Column Block for Parallelism:</a:t>
            </a:r>
            <a:r>
              <a:rPr lang="en-US" sz="2400" dirty="0"/>
              <a:t> Data is stored in in-memory </a:t>
            </a:r>
            <a:r>
              <a:rPr lang="en-US" sz="2400" b="1" dirty="0"/>
              <a:t>Column Blocks</a:t>
            </a:r>
            <a:r>
              <a:rPr lang="en-US" sz="2400" dirty="0"/>
              <a:t> and sorted by feature values once. This allows for parallel computation of split finding across features.</a:t>
            </a:r>
          </a:p>
          <a:p>
            <a:pPr algn="ctr">
              <a:buNone/>
            </a:pPr>
            <a:endParaRPr lang="en-US" sz="2400" b="1" dirty="0"/>
          </a:p>
          <a:p>
            <a:pPr algn="ctr">
              <a:buNone/>
            </a:pPr>
            <a:endParaRPr lang="en-US" sz="2400" b="1" dirty="0"/>
          </a:p>
          <a:p>
            <a:pPr algn="ctr">
              <a:buNone/>
            </a:pPr>
            <a:endParaRPr lang="en-US" sz="2400" b="1" dirty="0"/>
          </a:p>
          <a:p>
            <a:pPr algn="ctr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8774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548113-E714-A4BA-4D4D-A009FDEA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56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BD1F4-6785-68D4-D1C6-15D4F3CAFEF4}"/>
              </a:ext>
            </a:extLst>
          </p:cNvPr>
          <p:cNvSpPr txBox="1"/>
          <p:nvPr/>
        </p:nvSpPr>
        <p:spPr>
          <a:xfrm>
            <a:off x="1139483" y="309489"/>
            <a:ext cx="945348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and Use Cases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Excellent combination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speed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(due to parallelism and optimization).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has become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choice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many structured data prediction problems, particularly in data science competitions (Kaggle).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Regression.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problems.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Widely adopted, well-documented, and supports distributed and GPU computing.</a:t>
            </a:r>
          </a:p>
        </p:txBody>
      </p:sp>
    </p:spTree>
    <p:extLst>
      <p:ext uri="{BB962C8B-B14F-4D97-AF65-F5344CB8AC3E}">
        <p14:creationId xmlns:p14="http://schemas.microsoft.com/office/powerpoint/2010/main" val="209387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EBB63-3FAA-647B-AA71-69E909A93A1B}"/>
              </a:ext>
            </a:extLst>
          </p:cNvPr>
          <p:cNvSpPr txBox="1"/>
          <p:nvPr/>
        </p:nvSpPr>
        <p:spPr>
          <a:xfrm>
            <a:off x="858129" y="745588"/>
            <a:ext cx="1032568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CONCLUTION</a:t>
            </a: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evolved the traditional Gradient Boosting Machine (GBM) into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optimized and scalable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has become the de facto industry standard for structured data problems, particularly in machine learning competitions.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Strengths &amp; Innovations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Robustness: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state-of-the-art predictive performance by using a more precise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second-order Taylor expansion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loss function.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introduced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and L2 regularization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into the objective function, which is critical for controlling model complexity and preventing overfitting—a major improvement over vanilla GBM.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level-wise tree growth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cache-aware block structure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for parallel processing, drastically speeding up training time compared to its predecessors.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Completeness: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includes built-in capabilities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sparse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 need for extensive manual data preprocessing.</a:t>
            </a:r>
          </a:p>
        </p:txBody>
      </p:sp>
    </p:spTree>
    <p:extLst>
      <p:ext uri="{BB962C8B-B14F-4D97-AF65-F5344CB8AC3E}">
        <p14:creationId xmlns:p14="http://schemas.microsoft.com/office/powerpoint/2010/main" val="292457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XGBoost (eXtreme Gradient Boosting)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sharan</dc:creator>
  <cp:lastModifiedBy>shiva sharan</cp:lastModifiedBy>
  <cp:revision>1</cp:revision>
  <dcterms:created xsi:type="dcterms:W3CDTF">2025-12-02T05:40:45Z</dcterms:created>
  <dcterms:modified xsi:type="dcterms:W3CDTF">2025-12-02T05:41:00Z</dcterms:modified>
</cp:coreProperties>
</file>